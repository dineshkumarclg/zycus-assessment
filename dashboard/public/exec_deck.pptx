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7498079" cy="182880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Georgia"/>
              </a:defRPr>
            </a:pPr>
            <a:r>
              <a:t>Executive Portfolio Performance &amp; Health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7498079" cy="128016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Comprehensive cross-project analysis for reporting period: 2026-06-15 to 2026-07-10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Covering 2 active projects with simulated weekly historical runs to analyze RAG trends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Systemic evaluation of schedule variance, blocker escalation, stakeholder sentiment, and data completeness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t>Portfolio 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68096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Bifurcated overall health:</a:t>
            </a:r>
            <a:r>
              <a:rPr b="0">
                <a:solidFill>
                  <a:srgbClr val="991B1B"/>
                </a:solidFill>
              </a:rPr>
              <a:t> one project in critical distress (Red) while the other displays moderate operational risk (Amber).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14016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Pervasive status underreporting:</a:t>
            </a:r>
            <a:r>
              <a:rPr b="0">
                <a:solidFill>
                  <a:srgbClr val="991B1B"/>
                </a:solidFill>
              </a:rPr>
              <a:t> computed indicators reveal critical performance bottlenecks not reflected in PM-reported statuses.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47872"/>
            <a:ext cx="7680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334155"/>
                </a:solidFill>
              </a:rPr>
              <a:t>Portfolio-wide budget blindspot:</a:t>
            </a:r>
            <a:r>
              <a:rPr b="0">
                <a:solidFill>
                  <a:srgbClr val="334155"/>
                </a:solidFill>
              </a:rPr>
              <a:t> zero financial visibility across all active projects due to missing budget data in source sheets.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t>Cross-Project Health &amp; Schedule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68096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Outokumpu- S2P Project:</a:t>
            </a:r>
            <a:r>
              <a:rPr b="0">
                <a:solidFill>
                  <a:srgbClr val="991B1B"/>
                </a:solidFill>
              </a:rPr>
              <a:t> RAG sequence over 6 weeks exhibits stagnation: Red → Red → Red → Red → Red → 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14016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  - Schedule drift remains unmitigated on Outokumpu- S2P Project (schedule subscore:</a:t>
            </a:r>
            <a:r>
              <a:rPr b="0">
                <a:solidFill>
                  <a:srgbClr val="991B1B"/>
                </a:solidFill>
              </a:rPr>
              <a:t> Red)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47872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Project Plan:</a:t>
            </a:r>
            <a:r>
              <a:rPr b="0">
                <a:solidFill>
                  <a:srgbClr val="991B1B"/>
                </a:solidFill>
              </a:rPr>
              <a:t> RAG sequence over 6 weeks exhibits stagnation: Amber → Amber → Amber → Red → Amber → Amber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t>Emerging Portfolio Risks &amp; Blockers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68096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680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334155"/>
                </a:solidFill>
              </a:rPr>
              <a:t>Escalating blockers:</a:t>
            </a:r>
            <a:r>
              <a:rPr b="0">
                <a:solidFill>
                  <a:srgbClr val="334155"/>
                </a:solidFill>
              </a:rPr>
              <a:t> task-level blocking issues are rising, directly impacting milestone completion rates.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14016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Timeline slippage:</a:t>
            </a:r>
            <a:r>
              <a:rPr b="0">
                <a:solidFill>
                  <a:srgbClr val="991B1B"/>
                </a:solidFill>
              </a:rPr>
              <a:t> critical path task delay is compounding, creating high-risk downstream milestones.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47872"/>
            <a:ext cx="7680960" cy="102412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A3412"/>
                </a:solidFill>
              </a:rPr>
              <a:t>Communication gaps:</a:t>
            </a:r>
            <a:r>
              <a:rPr b="0">
                <a:solidFill>
                  <a:srgbClr val="9A3412"/>
                </a:solidFill>
              </a:rPr>
              <a:t> lack of qualitative commentary ('Status Comment' columns blank) hides qualitative risk indicators.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t>Status Disagreement &amp; Reporting Audits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68096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680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334155"/>
                </a:solidFill>
              </a:rPr>
              <a:t>Systemic optimism bias:</a:t>
            </a:r>
            <a:r>
              <a:rPr b="0">
                <a:solidFill>
                  <a:srgbClr val="334155"/>
                </a:solidFill>
              </a:rPr>
              <a:t> Disagreement flags active in 11/12 of weekly reports.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14016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  - Outokumpu- S2P Project:</a:t>
            </a:r>
            <a:r>
              <a:rPr b="0">
                <a:solidFill>
                  <a:srgbClr val="991B1B"/>
                </a:solidFill>
              </a:rPr>
              <a:t> PM-reported 'Green' status directly contradicts mathematically computed 'Red' status.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47872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  - Project Plan:</a:t>
            </a:r>
            <a:r>
              <a:rPr b="0">
                <a:solidFill>
                  <a:srgbClr val="991B1B"/>
                </a:solidFill>
              </a:rPr>
              <a:t> PM-reported 'Red' status directly contradicts mathematically computed 'Amber' status.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t>Data Quality &amp; Portfolio Visibility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68096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Critical financial blindspot:</a:t>
            </a:r>
            <a:r>
              <a:rPr b="0">
                <a:solidFill>
                  <a:srgbClr val="991B1B"/>
                </a:solidFill>
              </a:rPr>
              <a:t> 'Budget Burn' dimension is 100% Not Assessed due to missing cost columns in all source sheets.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414016"/>
            <a:ext cx="7680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334155"/>
                </a:solidFill>
              </a:rPr>
              <a:t>Stakeholder sentiment impairment:</a:t>
            </a:r>
            <a:r>
              <a:rPr b="0">
                <a:solidFill>
                  <a:srgbClr val="334155"/>
                </a:solidFill>
              </a:rPr>
              <a:t> reliance on secondary metadata because Status Comments were left completely blank.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547872"/>
            <a:ext cx="768096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Quality recommendation:</a:t>
            </a:r>
            <a:r>
              <a:rPr b="0">
                <a:solidFill>
                  <a:srgbClr val="991B1B"/>
                </a:solidFill>
              </a:rPr>
              <a:t> standardized project management tracking format is required to restore full portfolio visibility.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600" b="1">
                <a:solidFill>
                  <a:srgbClr val="1E293B"/>
                </a:solidFill>
                <a:latin typeface="Georgia"/>
              </a:defRPr>
            </a:pPr>
            <a:r>
              <a:t>Executive Insights &amp;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7680960" cy="1371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7680960" cy="74066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91B1B"/>
                </a:solidFill>
              </a:rPr>
              <a:t>1. Launch immediate executive</a:t>
            </a:r>
            <a:r>
              <a:rPr b="0">
                <a:solidFill>
                  <a:srgbClr val="991B1B"/>
                </a:solidFill>
              </a:rPr>
              <a:t> recovery audit on Outokumpu - S2P Project to remediate critical schedule slips.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30552"/>
            <a:ext cx="768096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334155"/>
                </a:solidFill>
              </a:rPr>
              <a:t>2. Establish standard project</a:t>
            </a:r>
            <a:r>
              <a:rPr b="0">
                <a:solidFill>
                  <a:srgbClr val="334155"/>
                </a:solidFill>
              </a:rPr>
              <a:t> management tracking templates to reconcile reported statuses with objective mathematical delay metrics.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80944"/>
            <a:ext cx="7680960" cy="7406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334155"/>
                </a:solidFill>
              </a:rPr>
              <a:t>3. Mandate inclusion of</a:t>
            </a:r>
            <a:r>
              <a:rPr b="0">
                <a:solidFill>
                  <a:srgbClr val="334155"/>
                </a:solidFill>
              </a:rPr>
              <a:t> standard cost/budget metrics in weekly files to enable financial performance scoring.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31335"/>
            <a:ext cx="7680960" cy="740664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>
              <a:lnSpc>
                <a:spcPct val="115000"/>
              </a:lnSpc>
              <a:defRPr sz="1400">
                <a:latin typeface="Segoe UI"/>
              </a:defRPr>
            </a:pPr>
            <a:r>
              <a:rPr b="1">
                <a:solidFill>
                  <a:srgbClr val="9A3412"/>
                </a:solidFill>
              </a:rPr>
              <a:t>4. Enforce mandatory completion</a:t>
            </a:r>
            <a:r>
              <a:rPr b="0">
                <a:solidFill>
                  <a:srgbClr val="9A3412"/>
                </a:solidFill>
              </a:rPr>
              <a:t> of qualitative task status comments to capture emerging operational risks early.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